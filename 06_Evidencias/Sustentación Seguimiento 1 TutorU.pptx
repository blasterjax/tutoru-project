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09/03/2026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4073723"/>
            <a:ext cx="2600325" cy="676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5" y="4073723"/>
            <a:ext cx="2600325" cy="6762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073723"/>
            <a:ext cx="2600325" cy="6762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925" y="4073723"/>
            <a:ext cx="2600325" cy="6762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537" y="2108001"/>
            <a:ext cx="5114925" cy="27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25528" y="2536626"/>
            <a:ext cx="7540942" cy="525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sz="3600" b="1" i="0" u="none">
                <a:solidFill>
                  <a:srgbClr val="0F2744"/>
                </a:solidFill>
                <a:latin typeface="Poppins"/>
              </a:rPr>
              <a:t>TutorU: Plataforma de Tutorías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0250" y="3176587"/>
            <a:ext cx="8191500" cy="497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0" i="0" u="none">
                <a:solidFill>
                  <a:srgbClr val="64748B"/>
                </a:solidFill>
                <a:latin typeface="DM Sans"/>
              </a:rPr>
              <a:t>Estructuración de iniciativa v0.1, selección metodológica incremental-ágil y plan de gestión de entregables, riesgos, calidad y trabajo operativo.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575" y="4216598"/>
            <a:ext cx="23526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0F2744"/>
                </a:solidFill>
                <a:latin typeface="Poppins SemiBold"/>
              </a:rPr>
              <a:t>Juan José Montoya 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4454723"/>
            <a:ext cx="23526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005088"/>
                </a:solidFill>
                <a:latin typeface="DM Sans Medium"/>
              </a:rPr>
              <a:t>Líder de Equipo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3300" y="4216598"/>
            <a:ext cx="23526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0F2744"/>
                </a:solidFill>
                <a:latin typeface="Poppins SemiBold"/>
              </a:rPr>
              <a:t>Samuel Gómez 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4454723"/>
            <a:ext cx="23526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005088"/>
                </a:solidFill>
                <a:latin typeface="DM Sans Medium"/>
              </a:rPr>
              <a:t>Analista de Requisitos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6025" y="4216598"/>
            <a:ext cx="23526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0F2744"/>
                </a:solidFill>
                <a:latin typeface="Poppins SemiBold"/>
              </a:rPr>
              <a:t>Sebasthian Calderón 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6025" y="4454723"/>
            <a:ext cx="23526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005088"/>
                </a:solidFill>
                <a:latin typeface="DM Sans Medium"/>
              </a:rPr>
              <a:t>Modelado y Documentación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750" y="4216598"/>
            <a:ext cx="23526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0F2744"/>
                </a:solidFill>
                <a:latin typeface="Poppins SemiBold"/>
              </a:rPr>
              <a:t>Samuel Cortés 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8750" y="4454723"/>
            <a:ext cx="23526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005088"/>
                </a:solidFill>
                <a:latin typeface="DM Sans Medium"/>
              </a:rPr>
              <a:t>Prototipado y Validación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340" y="2078160"/>
            <a:ext cx="8311320" cy="27016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73715" y="2373433"/>
            <a:ext cx="58791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0F2744"/>
                </a:solidFill>
                <a:latin typeface="Poppins"/>
              </a:rPr>
              <a:t>El </a:t>
            </a:r>
            <a:r>
              <a:rPr sz="2000" b="1" i="0" u="none" dirty="0" err="1">
                <a:solidFill>
                  <a:srgbClr val="0F2744"/>
                </a:solidFill>
                <a:latin typeface="Poppins"/>
              </a:rPr>
              <a:t>Entorno</a:t>
            </a:r>
            <a:r>
              <a:rPr sz="2000" b="1" i="0" u="none" dirty="0">
                <a:solidFill>
                  <a:srgbClr val="0F2744"/>
                </a:solidFill>
                <a:latin typeface="Poppins"/>
              </a:rPr>
              <a:t> y Caso </a:t>
            </a:r>
            <a:r>
              <a:rPr sz="2000" b="1" i="0" u="none" dirty="0" err="1">
                <a:solidFill>
                  <a:srgbClr val="0F2744"/>
                </a:solidFill>
                <a:latin typeface="Poppins"/>
              </a:rPr>
              <a:t>Asignado</a:t>
            </a:r>
            <a:endParaRPr sz="2000" b="1" i="0" u="none" dirty="0">
              <a:solidFill>
                <a:srgbClr val="0F2744"/>
              </a:solidFill>
              <a:latin typeface="Poppi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73713" y="3187271"/>
            <a:ext cx="7977946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TutorU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se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concibe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para el </a:t>
            </a:r>
            <a:r>
              <a:rPr sz="1400" b="1" i="0" u="none" dirty="0" err="1">
                <a:solidFill>
                  <a:srgbClr val="334155"/>
                </a:solidFill>
                <a:latin typeface="DM Sans"/>
              </a:rPr>
              <a:t>Programa</a:t>
            </a:r>
            <a:r>
              <a:rPr sz="1400" b="1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400" b="1" i="0" u="none" dirty="0" err="1">
                <a:solidFill>
                  <a:srgbClr val="334155"/>
                </a:solidFill>
                <a:latin typeface="DM Sans"/>
              </a:rPr>
              <a:t>Permanencia</a:t>
            </a:r>
            <a:r>
              <a:rPr sz="14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1" i="0" u="none" dirty="0" err="1">
                <a:solidFill>
                  <a:srgbClr val="334155"/>
                </a:solidFill>
                <a:latin typeface="DM Sans"/>
              </a:rPr>
              <a:t>Académica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la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Institución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Universitaria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Envigado (IUE),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apoyando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a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estudiantes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con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dificultades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materias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alta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complejidad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3713" y="3948386"/>
            <a:ext cx="7501873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400" b="0" i="0" u="none" dirty="0">
                <a:solidFill>
                  <a:srgbClr val="334155"/>
                </a:solidFill>
                <a:latin typeface="DM Sans"/>
              </a:rPr>
              <a:t>Hoy las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sesiones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se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coordinan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mediante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mensajes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individuales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chat, sin un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repositorio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común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horarios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, sin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registro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temas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concretos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ni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evidencia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realización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400" b="0" i="0" u="none" dirty="0" err="1">
                <a:solidFill>
                  <a:srgbClr val="334155"/>
                </a:solidFill>
                <a:latin typeface="DM Sans"/>
              </a:rPr>
              <a:t>efectiva</a:t>
            </a:r>
            <a:r>
              <a:rPr sz="14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419100"/>
            <a:ext cx="1167765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u="none" dirty="0" err="1">
                <a:solidFill>
                  <a:srgbClr val="005088"/>
                </a:solidFill>
                <a:latin typeface="Poppins"/>
              </a:rPr>
              <a:t>Contexto</a:t>
            </a:r>
            <a:r>
              <a:rPr sz="3200" b="1" i="0" u="none" dirty="0">
                <a:solidFill>
                  <a:srgbClr val="005088"/>
                </a:solidFill>
                <a:latin typeface="Poppins"/>
              </a:rPr>
              <a:t> y </a:t>
            </a:r>
            <a:r>
              <a:rPr sz="3200" b="1" i="0" u="none" dirty="0" err="1">
                <a:solidFill>
                  <a:srgbClr val="005088"/>
                </a:solidFill>
                <a:latin typeface="Poppins"/>
              </a:rPr>
              <a:t>Situación</a:t>
            </a:r>
            <a:r>
              <a:rPr sz="3200" b="1" i="0" u="none" dirty="0">
                <a:solidFill>
                  <a:srgbClr val="005088"/>
                </a:solidFill>
                <a:latin typeface="Poppins"/>
              </a:rPr>
              <a:t> Actual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2531268"/>
            <a:ext cx="5448300" cy="24431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531268"/>
            <a:ext cx="5448300" cy="24431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9625" y="278844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05088"/>
                </a:solidFill>
                <a:latin typeface="Poppins"/>
              </a:rPr>
              <a:t>Necesidad Expresada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625" y="313134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9625" y="3283743"/>
            <a:ext cx="4857750" cy="621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Fórmula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Necesidad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Los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estudiantes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solicitantes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necesitan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un medio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centralizado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encontrarse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pactar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horarios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registrar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temas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abordados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4000500"/>
            <a:ext cx="4857750" cy="621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Propósito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Facilitar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acceso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oportuno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refuerzo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académico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antes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evaluaciones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permitir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a la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coordinación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monitorear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impacto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programa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278844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05088"/>
                </a:solidFill>
                <a:latin typeface="Poppins"/>
              </a:rPr>
              <a:t>Formulación del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4625" y="313134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4625" y="3283743"/>
            <a:ext cx="4857750" cy="621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Fórmula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del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Problema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En la IUE,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estudiantes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experimentan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dificultades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coordinación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por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mensajes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dispersos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agendas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opacas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625" y="4000500"/>
            <a:ext cx="4857750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Consecuencias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Críticas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Choques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horario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sesiones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mal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enfocadas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total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ausencia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evidencia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sobre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ejecución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real de las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tutorías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Necesidad y Problema Formal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14350" y="2585739"/>
          <a:ext cx="11163299" cy="1898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0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3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6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690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Interesado Clave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Necesidad o Expectativa Central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Influencia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Participación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69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Estudiantes Solicitantes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Encontrar tutoría pertinente y recibir confirmación formal rápida.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Media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Usuarios directos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69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Estudiantes Tutores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Publicar disponibilidad, recibir solicitudes claras y registrar sesión.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Media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Proveedores clave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69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Coordinador de Permanencia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Visualizar sesiones programadas/realizadas con métricas consolidadas.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Alta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Decisor / Auditor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691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Docentes de Asignaturas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Canal de refuerzo confiable para estudiantes en riesgo de reprobación.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Baja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Indirecta</a:t>
                      </a:r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14350" y="3328689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05175" y="3328689"/>
            <a:ext cx="50233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328570" y="3328689"/>
            <a:ext cx="16744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03035" y="3328689"/>
            <a:ext cx="16746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4350" y="3709094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05175" y="3709094"/>
            <a:ext cx="50233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28570" y="3709094"/>
            <a:ext cx="16744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003035" y="3709094"/>
            <a:ext cx="16746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4350" y="4089499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05175" y="4089499"/>
            <a:ext cx="50233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8570" y="4089499"/>
            <a:ext cx="16744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03035" y="4089499"/>
            <a:ext cx="16746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350" y="4469903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05175" y="4469903"/>
            <a:ext cx="50233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28570" y="4469903"/>
            <a:ext cx="16744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003035" y="4469903"/>
            <a:ext cx="16746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570" y="3055739"/>
            <a:ext cx="447675" cy="189904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570" y="3428701"/>
            <a:ext cx="447675" cy="189904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8570" y="3818632"/>
            <a:ext cx="342900" cy="189904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570" y="4175224"/>
            <a:ext cx="342900" cy="189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Interesados y Evidencias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2511028"/>
            <a:ext cx="5448300" cy="248364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511028"/>
            <a:ext cx="5448300" cy="24836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9625" y="276820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005088"/>
                </a:solidFill>
                <a:latin typeface="Poppins"/>
              </a:rPr>
              <a:t>Alcance</a:t>
            </a:r>
            <a:r>
              <a:rPr sz="1500" b="1" i="0" u="none" dirty="0">
                <a:solidFill>
                  <a:srgbClr val="005088"/>
                </a:solidFill>
                <a:latin typeface="Poppins"/>
              </a:rPr>
              <a:t> </a:t>
            </a:r>
            <a:r>
              <a:rPr sz="1500" b="1" i="0" u="none" dirty="0" err="1">
                <a:solidFill>
                  <a:srgbClr val="005088"/>
                </a:solidFill>
                <a:latin typeface="Poppins"/>
              </a:rPr>
              <a:t>Incluido</a:t>
            </a:r>
            <a:r>
              <a:rPr sz="1500" b="1" i="0" u="none" dirty="0">
                <a:solidFill>
                  <a:srgbClr val="005088"/>
                </a:solidFill>
                <a:latin typeface="Poppins"/>
              </a:rPr>
              <a:t> (</a:t>
            </a:r>
            <a:r>
              <a:rPr sz="1500" b="1" i="0" u="none" dirty="0" err="1">
                <a:solidFill>
                  <a:srgbClr val="005088"/>
                </a:solidFill>
                <a:latin typeface="Poppins"/>
              </a:rPr>
              <a:t>Capacidades</a:t>
            </a:r>
            <a:r>
              <a:rPr sz="1500" b="1" i="0" u="none" dirty="0">
                <a:solidFill>
                  <a:srgbClr val="005088"/>
                </a:solidFill>
                <a:latin typeface="Poppins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625" y="311110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24625" y="276820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05088"/>
                </a:solidFill>
                <a:latin typeface="Poppins"/>
              </a:rPr>
              <a:t>Exclusiones Estrictas (No Incluye)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4625" y="311110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2500" y="3319462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125" y="3320653"/>
            <a:ext cx="4667250" cy="19787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Oferta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categorizada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tutorías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por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asignatura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tema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específico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602831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125" y="3604021"/>
            <a:ext cx="4667250" cy="19787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Gestión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bloques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disponibilidad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horaria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del tutor.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6200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3887390"/>
            <a:ext cx="4667250" cy="19787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Flujo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solicitud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confirmación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bloqueo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slot.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69568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25" y="4170759"/>
            <a:ext cx="4667250" cy="19787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Reprogramación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cancelación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con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reglas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aviso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previo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452937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125" y="4454128"/>
            <a:ext cx="4667250" cy="19787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0" i="0" u="none" dirty="0">
                <a:solidFill>
                  <a:srgbClr val="334155"/>
                </a:solidFill>
                <a:latin typeface="DM Sans"/>
              </a:rPr>
              <a:t>Registro breve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realización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consulta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sesiones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históricas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319462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5125" y="3320653"/>
            <a:ext cx="4667250" cy="19710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>
                <a:solidFill>
                  <a:srgbClr val="334155"/>
                </a:solidFill>
                <a:latin typeface="DM Sans"/>
              </a:rPr>
              <a:t>Sin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videollamadas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integradas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Se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apoya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enlaces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externos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02831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125" y="3604021"/>
            <a:ext cx="4667250" cy="19710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>
                <a:solidFill>
                  <a:srgbClr val="334155"/>
                </a:solidFill>
                <a:latin typeface="DM Sans"/>
              </a:rPr>
              <a:t>Sin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calificaciones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ni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notas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institucionales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Datos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protegidos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886200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5125" y="3887390"/>
            <a:ext cx="4667250" cy="19710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>
                <a:solidFill>
                  <a:srgbClr val="334155"/>
                </a:solidFill>
                <a:latin typeface="DM Sans"/>
              </a:rPr>
              <a:t>Sin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pasarelas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ni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pagos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a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tutores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Marco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voluntario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institucional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169568"/>
            <a:ext cx="47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DM Sans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5125" y="4170759"/>
            <a:ext cx="4667250" cy="194605"/>
          </a:xfrm>
          <a:prstGeom prst="rect">
            <a:avLst/>
          </a:prstGeom>
          <a:noFill/>
        </p:spPr>
        <p:txBody>
          <a:bodyPr wrap="square" lIns="47625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>
                <a:solidFill>
                  <a:srgbClr val="334155"/>
                </a:solidFill>
                <a:latin typeface="DM Sans"/>
              </a:rPr>
              <a:t>Sin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diagnósticos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psicopedagógicos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automatizados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Alcance y Límites del Sistema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52500" y="2199828"/>
            <a:ext cx="10287000" cy="667047"/>
          </a:xfrm>
          <a:prstGeom prst="roundRect">
            <a:avLst>
              <a:gd name="adj" fmla="val 142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47800" y="2323653"/>
            <a:ext cx="9620250" cy="3994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Objetivo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General: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Diseñar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un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prototipo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navegable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TutorU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que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coordine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oferta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solicitud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confirmación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tutorías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entre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estudiantes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la IUE.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981176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47800" y="3105001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Criterio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1 -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Pertinencia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estudiante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encuentra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una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tutoría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adecuada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filtrando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por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asignatura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tema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menos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tres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clics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2500" y="3562350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7800" y="3686175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Criterio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2 -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Comprensión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Mutua: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Tutor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solicitante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visualizan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fecha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hora,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modalidad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tema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unificado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comprobante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500" y="4143523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47800" y="4267348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Criterio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3 -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Gestión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de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Estados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Posibilidad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comprobada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confirmar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reprogramar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cancelar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una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sesión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prueba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4724697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7800" y="4848522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Criterio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4 - Cero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Duplicados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prototipo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bloquea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atómicamente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un slot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horario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evitar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reservas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simultáneas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500" y="2857351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52500" y="3438525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52500" y="4019698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52500" y="4600872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52500" y="5182046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75" y="2347466"/>
            <a:ext cx="1905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475" y="3128813"/>
            <a:ext cx="190500" cy="2000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475" y="3709987"/>
            <a:ext cx="238125" cy="2000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475" y="4291161"/>
            <a:ext cx="17145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3475" y="4872335"/>
            <a:ext cx="190500" cy="2000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Objetivos y Criterios de Éxito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2531268"/>
            <a:ext cx="5448300" cy="24431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531268"/>
            <a:ext cx="5448300" cy="24431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9625" y="278844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05088"/>
                </a:solidFill>
                <a:latin typeface="Poppins"/>
              </a:rPr>
              <a:t>¿Por qué Incremental-Ágil?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625" y="313134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9625" y="3283743"/>
            <a:ext cx="4857750" cy="608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Argumento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1 -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Requisitos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variables: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Los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requisitos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no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están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cerrados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; se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descubrirán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la Etapa 2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mediante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elicitación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activa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haciendo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inviable un plan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rígido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cascada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4000500"/>
            <a:ext cx="4857750" cy="621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Argumento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2 - Ruta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estructurada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curso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exige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entregas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formales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por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etapas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fijas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2–3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semanas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,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encajando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naturalmente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incrementos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sucesivos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valor.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2788443"/>
            <a:ext cx="5100637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05088"/>
                </a:solidFill>
                <a:latin typeface="Poppins"/>
              </a:rPr>
              <a:t>Mecanismo de Control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4625" y="3131343"/>
            <a:ext cx="485775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4625" y="3283743"/>
            <a:ext cx="4857750" cy="414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Ciclos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retroalimentación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Dentro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incremento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se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ejecutan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ciclos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ágiles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cortos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con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retroalimentación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sincrónica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docente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625" y="3793331"/>
            <a:ext cx="4857750" cy="621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Mitigación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1" i="0" u="none" dirty="0" err="1">
                <a:solidFill>
                  <a:srgbClr val="334155"/>
                </a:solidFill>
                <a:latin typeface="DM Sans"/>
              </a:rPr>
              <a:t>integración</a:t>
            </a:r>
            <a:r>
              <a:rPr sz="120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evitar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acoplamientos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débiles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entre partes, se define un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modelo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datos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común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desde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la Etapa 1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pruebas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extremo a extremo.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Enfoque de Proceso Híbrido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793955"/>
              </p:ext>
            </p:extLst>
          </p:nvPr>
        </p:nvGraphicFramePr>
        <p:xfrm>
          <a:off x="514350" y="2646164"/>
          <a:ext cx="11163297" cy="2213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2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0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9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3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895"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ID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Entregable Formal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Contenido Verificable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Responsable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Ubicación Git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895">
                <a:tc>
                  <a:txBody>
                    <a:bodyPr/>
                    <a:lstStyle/>
                    <a:p>
                      <a:pPr algn="l"/>
                      <a:r>
                        <a:rPr sz="1100" b="1" i="0" u="none">
                          <a:solidFill>
                            <a:srgbClr val="334155"/>
                          </a:solidFill>
                          <a:latin typeface="DM Sans"/>
                        </a:rPr>
                        <a:t>E01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Ficha</a:t>
                      </a:r>
                      <a:r>
                        <a:rPr sz="1100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 de Iniciativa v0.1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Problema formal, interesados, alcance, SMART y riesgos.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Sebasthian Calderón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01_Iniciativa/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895">
                <a:tc>
                  <a:txBody>
                    <a:bodyPr/>
                    <a:lstStyle/>
                    <a:p>
                      <a:pPr algn="l"/>
                      <a:r>
                        <a:rPr sz="1100" b="1" i="0" u="none">
                          <a:solidFill>
                            <a:srgbClr val="334155"/>
                          </a:solidFill>
                          <a:latin typeface="DM Sans"/>
                        </a:rPr>
                        <a:t>E02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Matriz de Procesos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Comparativa 4 enfoques y justificación incremental-ágil.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Sebasthian Calderón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02_Proceso/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895">
                <a:tc>
                  <a:txBody>
                    <a:bodyPr/>
                    <a:lstStyle/>
                    <a:p>
                      <a:pPr algn="l"/>
                      <a:r>
                        <a:rPr sz="1100" b="1" i="0" u="none">
                          <a:solidFill>
                            <a:srgbClr val="334155"/>
                          </a:solidFill>
                          <a:latin typeface="DM Sans"/>
                        </a:rPr>
                        <a:t>E03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Plan de Gestión Iniciativa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WBS, RACI, tallas relativas, riesgos y calidad (DoD).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Juan José Montoya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00_Gestion/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895">
                <a:tc>
                  <a:txBody>
                    <a:bodyPr/>
                    <a:lstStyle/>
                    <a:p>
                      <a:pPr algn="l"/>
                      <a:r>
                        <a:rPr sz="1100" b="1" i="0" u="none">
                          <a:solidFill>
                            <a:srgbClr val="334155"/>
                          </a:solidFill>
                          <a:latin typeface="DM Sans"/>
                        </a:rPr>
                        <a:t>E04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Repositorio Institucional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7 directorios normados, README y branch protection.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Samuel Cortés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GitHub Repos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896">
                <a:tc>
                  <a:txBody>
                    <a:bodyPr/>
                    <a:lstStyle/>
                    <a:p>
                      <a:pPr algn="l"/>
                      <a:r>
                        <a:rPr sz="1100" b="1" i="0" u="none">
                          <a:solidFill>
                            <a:srgbClr val="334155"/>
                          </a:solidFill>
                          <a:latin typeface="DM Sans"/>
                        </a:rPr>
                        <a:t>E05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Tablero</a:t>
                      </a:r>
                      <a:r>
                        <a:rPr sz="1100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 Kanban </a:t>
                      </a:r>
                      <a:r>
                        <a:rPr sz="1100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Operativo</a:t>
                      </a:r>
                      <a:endParaRPr sz="1100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Flujo de 5 columnas, límite WIP=2 y 12 tarjetas activas.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>
                          <a:solidFill>
                            <a:srgbClr val="334155"/>
                          </a:solidFill>
                          <a:latin typeface="DM Sans"/>
                        </a:rPr>
                        <a:t>Samuel Gómez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GitHub Projects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14350" y="3376017"/>
            <a:ext cx="8929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7318" y="3376017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98143" y="3376017"/>
            <a:ext cx="390703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05179" y="3376017"/>
            <a:ext cx="20093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114508" y="3376017"/>
            <a:ext cx="15631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4350" y="3743325"/>
            <a:ext cx="8929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07318" y="3743325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98143" y="3743325"/>
            <a:ext cx="390703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05179" y="3743325"/>
            <a:ext cx="20093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114508" y="3743325"/>
            <a:ext cx="15631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4350" y="4110632"/>
            <a:ext cx="8929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407318" y="4110632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98143" y="4110632"/>
            <a:ext cx="390703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05179" y="4110632"/>
            <a:ext cx="20093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114508" y="4110632"/>
            <a:ext cx="15631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4350" y="4477940"/>
            <a:ext cx="8929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407318" y="4477940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98143" y="4477940"/>
            <a:ext cx="390703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5179" y="4477940"/>
            <a:ext cx="20093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114508" y="4477940"/>
            <a:ext cx="15631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14350" y="4845248"/>
            <a:ext cx="8929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407318" y="4845248"/>
            <a:ext cx="27908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98143" y="4845248"/>
            <a:ext cx="390703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05179" y="4845248"/>
            <a:ext cx="20093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114508" y="4845248"/>
            <a:ext cx="15631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Catálogo de Entregables Clave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066800"/>
            <a:ext cx="11163300" cy="53721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053243"/>
              </p:ext>
            </p:extLst>
          </p:nvPr>
        </p:nvGraphicFramePr>
        <p:xfrm>
          <a:off x="514350" y="2395537"/>
          <a:ext cx="11163297" cy="2278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9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7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87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49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106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980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Entregable / Actividad Clave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Juan J. Montoya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Samuel Gómez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Sebasthian C.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Samuel Cortés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Docente / Cliente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80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E01: Ficha de Iniciativa v0.1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 (Responsable)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 (Consultado)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80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E02: Matriz Comparativa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 (Consultado)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 (Responsable)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 (Consultado)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80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E03: Plan de Gestión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R (</a:t>
                      </a:r>
                      <a:r>
                        <a:rPr sz="1012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Responsable</a:t>
                      </a:r>
                      <a:r>
                        <a:rPr sz="1012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80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E04: Repositorio GitHub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C (</a:t>
                      </a:r>
                      <a:r>
                        <a:rPr sz="1012" b="0" i="0" u="none" dirty="0" err="1">
                          <a:solidFill>
                            <a:srgbClr val="334155"/>
                          </a:solidFill>
                          <a:latin typeface="DM Sans"/>
                        </a:rPr>
                        <a:t>Consultado</a:t>
                      </a:r>
                      <a:r>
                        <a:rPr sz="1012" b="0" i="0" u="none" dirty="0">
                          <a:solidFill>
                            <a:srgbClr val="334155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 (Consultado)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 (Responsable)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811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E05: Tablero de Flujo Kanban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 (Responsable)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 (Consultado)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 (Apoya)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12" b="0" i="0" u="none" dirty="0">
                        <a:solidFill>
                          <a:srgbClr val="334155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14350" y="3138487"/>
            <a:ext cx="281180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26159" y="3138487"/>
            <a:ext cx="17499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76080" y="3138487"/>
            <a:ext cx="161716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93247" y="3138487"/>
            <a:ext cx="156879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62044" y="3138487"/>
            <a:ext cx="16049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867007" y="3138487"/>
            <a:ext cx="18106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4350" y="3518892"/>
            <a:ext cx="281180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26159" y="3518892"/>
            <a:ext cx="17499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76080" y="3518892"/>
            <a:ext cx="161716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693247" y="3518892"/>
            <a:ext cx="156879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62044" y="3518892"/>
            <a:ext cx="16049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67007" y="3518892"/>
            <a:ext cx="18106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350" y="3899296"/>
            <a:ext cx="281180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26159" y="3899296"/>
            <a:ext cx="17499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76080" y="3899296"/>
            <a:ext cx="161716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93247" y="3899296"/>
            <a:ext cx="156879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62044" y="3899296"/>
            <a:ext cx="16049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867007" y="3899296"/>
            <a:ext cx="18106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4350" y="4279701"/>
            <a:ext cx="281180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326159" y="4279701"/>
            <a:ext cx="17499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76080" y="4279701"/>
            <a:ext cx="161716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693247" y="4279701"/>
            <a:ext cx="156879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62044" y="4279701"/>
            <a:ext cx="16049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867007" y="4279701"/>
            <a:ext cx="18106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4350" y="4660106"/>
            <a:ext cx="281180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26159" y="4660106"/>
            <a:ext cx="17499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76080" y="4660106"/>
            <a:ext cx="161716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693247" y="4660106"/>
            <a:ext cx="156879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62044" y="4660106"/>
            <a:ext cx="160496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867007" y="4660106"/>
            <a:ext cx="18106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6159" y="2867619"/>
            <a:ext cx="762000" cy="230187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502" y="2867620"/>
            <a:ext cx="628650" cy="189904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5742" y="2867620"/>
            <a:ext cx="1128903" cy="220661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2734" y="2867620"/>
            <a:ext cx="958009" cy="203194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2325" y="3239493"/>
            <a:ext cx="755833" cy="228324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6080" y="3231863"/>
            <a:ext cx="971550" cy="206066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898" y="3248024"/>
            <a:ext cx="1124465" cy="219793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2734" y="3248025"/>
            <a:ext cx="958010" cy="203194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26158" y="3637393"/>
            <a:ext cx="1141933" cy="223208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17878" y="3609380"/>
            <a:ext cx="768572" cy="23217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49733" y="3609380"/>
            <a:ext cx="691709" cy="208953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4725" y="3619118"/>
            <a:ext cx="676225" cy="204276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26158" y="4012637"/>
            <a:ext cx="761999" cy="230186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07372" y="3999309"/>
            <a:ext cx="940258" cy="199429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23898" y="3985121"/>
            <a:ext cx="997702" cy="21161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4725" y="4008834"/>
            <a:ext cx="971550" cy="189904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32325" y="4365856"/>
            <a:ext cx="734187" cy="221785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76080" y="4365856"/>
            <a:ext cx="1096357" cy="214299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49733" y="4365856"/>
            <a:ext cx="971867" cy="206133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41670" y="4389238"/>
            <a:ext cx="682374" cy="206133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Matriz de Responsabilidad RACI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066800"/>
            <a:ext cx="11163300" cy="53721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09825" y="4592240"/>
            <a:ext cx="7372350" cy="207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31"/>
              </a:lnSpc>
            </a:pPr>
            <a:r>
              <a:rPr sz="1125" b="0" i="1" u="none">
                <a:solidFill>
                  <a:srgbClr val="334155"/>
                </a:solidFill>
                <a:latin typeface="DM Sans"/>
              </a:rPr>
              <a:t>Regla de trabajo activo: Las tareas L y XL fueron divididas en unidades atómicas para evitar cuellos de botella.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Estimación por Tallas y Carga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6137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14350" y="2457152"/>
          <a:ext cx="11163296" cy="2591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9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1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2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8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63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8279"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ID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Evento, Causa e Impacto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Nivel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Estrategia de Mitigación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Alerta Temprana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9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R01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Reservas duplicadas por fallas en validación concurrente.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Alto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Regla de negocio estricta de bloqueo atómico transaccional de slots.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Prueba concurrente con fallo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9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R02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Desborde de alcance hacia módulos complejos no autorizados.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Alto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Control riguroso de lista de exclusiones y visto bueno docente.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Tarjetas extra en backlog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279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R03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Filtración de notas o historiales institucionales privados.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Alto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Diseño de entidades limitado a horarios, materias y estados.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Atributos de notas en modelo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279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334155"/>
                          </a:solidFill>
                          <a:latin typeface="DM Sans"/>
                        </a:rPr>
                        <a:t>R04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Baja disponibilidad de tutores reales para pruebas tempranas.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Medio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Construcción de arquetipos y banco de 5 escenarios ficticios.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334155"/>
                          </a:solidFill>
                          <a:latin typeface="DM Sans"/>
                        </a:rPr>
                        <a:t>Retraso en validaciones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14350" y="3373338"/>
            <a:ext cx="669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84076" y="3373338"/>
            <a:ext cx="35721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6249" y="3373338"/>
            <a:ext cx="11162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872460" y="3373338"/>
            <a:ext cx="401880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891266" y="3373338"/>
            <a:ext cx="17863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4350" y="3926978"/>
            <a:ext cx="669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84076" y="3926978"/>
            <a:ext cx="35721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6249" y="3926978"/>
            <a:ext cx="11162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72460" y="3926978"/>
            <a:ext cx="401880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891266" y="3926978"/>
            <a:ext cx="17863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4350" y="4480619"/>
            <a:ext cx="669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84076" y="4480619"/>
            <a:ext cx="35721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6249" y="4480619"/>
            <a:ext cx="11162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72460" y="4480619"/>
            <a:ext cx="401880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891266" y="4480619"/>
            <a:ext cx="17863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4350" y="5034260"/>
            <a:ext cx="669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84076" y="5034260"/>
            <a:ext cx="357217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6249" y="5034260"/>
            <a:ext cx="11162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72460" y="5034260"/>
            <a:ext cx="401880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891266" y="5034260"/>
            <a:ext cx="178638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774" y="3106638"/>
            <a:ext cx="395511" cy="213121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824" y="3617166"/>
            <a:ext cx="457200" cy="246362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824" y="4112764"/>
            <a:ext cx="457200" cy="246362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5774" y="4652932"/>
            <a:ext cx="537534" cy="2232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Gestión de Riesgos con Alertas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2721471"/>
            <a:ext cx="3594050" cy="20627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00" y="2721471"/>
            <a:ext cx="3594050" cy="20627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3450" y="2721471"/>
            <a:ext cx="3594050" cy="206275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5075" y="2940546"/>
            <a:ext cx="552450" cy="552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86185" y="3626346"/>
            <a:ext cx="1850231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1" i="0" u="none">
                <a:solidFill>
                  <a:srgbClr val="005088"/>
                </a:solidFill>
                <a:latin typeface="Poppins"/>
              </a:rPr>
              <a:t>7 Carpetas Estándar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3950196"/>
            <a:ext cx="3232100" cy="5197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475569"/>
                </a:solidFill>
                <a:latin typeface="DM Sans"/>
              </a:rPr>
              <a:t>Estructura numerada formal: 00_Gestión a 06_Evidencias, garantizando orden y trazabilidad por etapa.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626" y="2940546"/>
            <a:ext cx="552450" cy="552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35681" y="3626346"/>
            <a:ext cx="272034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1" i="0" u="none">
                <a:solidFill>
                  <a:srgbClr val="005088"/>
                </a:solidFill>
                <a:latin typeface="Poppins"/>
              </a:rPr>
              <a:t>Ramas y Commits Semánticos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9875" y="3950196"/>
            <a:ext cx="323210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475569"/>
                </a:solidFill>
                <a:latin typeface="DM Sans"/>
              </a:rPr>
              <a:t>Rama main protegida. Commits vinculados a tareas (ej. T04 feat: ...) integrados vía Pull Request.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4176" y="2940546"/>
            <a:ext cx="552450" cy="552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00266" y="3626346"/>
            <a:ext cx="216027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1" i="0" u="none">
                <a:solidFill>
                  <a:srgbClr val="005088"/>
                </a:solidFill>
                <a:latin typeface="Poppins"/>
              </a:rPr>
              <a:t>Definición de Terminado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425" y="3950196"/>
            <a:ext cx="323210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475569"/>
                </a:solidFill>
                <a:latin typeface="DM Sans"/>
              </a:rPr>
              <a:t>DoD estricto: documento completo, consistente, trazable, versionado y con revisión cruzada entre pares.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8900" y="3083421"/>
            <a:ext cx="3048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62501" y="3083421"/>
            <a:ext cx="2667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47051" y="3083421"/>
            <a:ext cx="266700" cy="266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Calidad y Repositorio Git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4350" y="419100"/>
            <a:ext cx="568071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Tablero Kanban y Flujo de Trabajo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0"/>
            <a:ext cx="592455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4350" y="2995612"/>
            <a:ext cx="568071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05088"/>
                </a:solidFill>
                <a:latin typeface="Poppins"/>
              </a:rPr>
              <a:t>Operación Visual y Límite WIP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4350" y="3424237"/>
            <a:ext cx="54102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200" b="0" i="0" u="none" dirty="0" err="1">
                <a:solidFill>
                  <a:srgbClr val="475569"/>
                </a:solidFill>
                <a:latin typeface="DM Sans"/>
              </a:rPr>
              <a:t>Implementación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DM Sans"/>
              </a:rPr>
              <a:t>en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 GitHub Projects con </a:t>
            </a:r>
            <a:r>
              <a:rPr sz="1200" b="0" i="0" u="none" dirty="0" err="1">
                <a:solidFill>
                  <a:srgbClr val="475569"/>
                </a:solidFill>
                <a:latin typeface="DM Sans"/>
              </a:rPr>
              <a:t>flujo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475569"/>
                </a:solidFill>
                <a:latin typeface="DM Sans"/>
              </a:rPr>
              <a:t>cinco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475569"/>
                </a:solidFill>
                <a:latin typeface="DM Sans"/>
              </a:rPr>
              <a:t>etapas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: </a:t>
            </a:r>
            <a:r>
              <a:rPr sz="1200" b="0" i="1" u="none" dirty="0">
                <a:solidFill>
                  <a:srgbClr val="475569"/>
                </a:solidFill>
                <a:latin typeface="DM Sans"/>
              </a:rPr>
              <a:t>Backlog → Listo → En </a:t>
            </a:r>
            <a:r>
              <a:rPr sz="1200" b="0" i="1" u="none" dirty="0" err="1">
                <a:solidFill>
                  <a:srgbClr val="475569"/>
                </a:solidFill>
                <a:latin typeface="DM Sans"/>
              </a:rPr>
              <a:t>Curso</a:t>
            </a:r>
            <a:r>
              <a:rPr sz="1200" b="0" i="1" u="none" dirty="0">
                <a:solidFill>
                  <a:srgbClr val="475569"/>
                </a:solidFill>
                <a:latin typeface="DM Sans"/>
              </a:rPr>
              <a:t> → En </a:t>
            </a:r>
            <a:r>
              <a:rPr sz="1200" b="0" i="1" u="none" dirty="0" err="1">
                <a:solidFill>
                  <a:srgbClr val="475569"/>
                </a:solidFill>
                <a:latin typeface="DM Sans"/>
              </a:rPr>
              <a:t>Revisión</a:t>
            </a:r>
            <a:r>
              <a:rPr sz="1200" b="0" i="1" u="none" dirty="0">
                <a:solidFill>
                  <a:srgbClr val="475569"/>
                </a:solidFill>
                <a:latin typeface="DM Sans"/>
              </a:rPr>
              <a:t> → </a:t>
            </a:r>
            <a:r>
              <a:rPr sz="1200" b="0" i="1" u="none" dirty="0" err="1">
                <a:solidFill>
                  <a:srgbClr val="475569"/>
                </a:solidFill>
                <a:latin typeface="DM Sans"/>
              </a:rPr>
              <a:t>Hecho</a:t>
            </a:r>
            <a:r>
              <a:rPr sz="1200" b="0" i="0" u="none" dirty="0">
                <a:solidFill>
                  <a:srgbClr val="475569"/>
                </a:solidFill>
                <a:latin typeface="DM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52500" y="2590502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47800" y="2714327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>
                <a:solidFill>
                  <a:srgbClr val="005088"/>
                </a:solidFill>
                <a:latin typeface="DM Sans"/>
              </a:rPr>
              <a:t>P04 -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Perfiles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y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Atributos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¿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Qué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datos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mínimos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requiere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visualizar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cada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rol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sin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vulnerar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normativas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privacidad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institucional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3171676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47800" y="3295501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>
                <a:solidFill>
                  <a:srgbClr val="005088"/>
                </a:solidFill>
                <a:latin typeface="DM Sans"/>
              </a:rPr>
              <a:t>P05 - Reglas de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Cancelación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¿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Cuál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es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tiempo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límite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admisible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cancelar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o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reprogramar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sin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penalización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el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solicitante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2500" y="3752850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7800" y="3876675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>
                <a:solidFill>
                  <a:srgbClr val="005088"/>
                </a:solidFill>
                <a:latin typeface="DM Sans"/>
              </a:rPr>
              <a:t>P06 -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Delimitación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 del MVP: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¿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Cuáles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de las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capacidades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funcionales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son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obligatorias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para el primer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prototipo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navegable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500" y="4334023"/>
            <a:ext cx="10287000" cy="466873"/>
          </a:xfrm>
          <a:prstGeom prst="roundRect">
            <a:avLst>
              <a:gd name="adj" fmla="val 2040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47800" y="4457848"/>
            <a:ext cx="9620250" cy="197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6"/>
              </a:lnSpc>
            </a:pPr>
            <a:r>
              <a:rPr sz="1200" b="1" i="0" u="none" dirty="0">
                <a:solidFill>
                  <a:srgbClr val="005088"/>
                </a:solidFill>
                <a:latin typeface="DM Sans"/>
              </a:rPr>
              <a:t>Ruta </a:t>
            </a:r>
            <a:r>
              <a:rPr sz="1200" b="1" i="0" u="none" dirty="0" err="1">
                <a:solidFill>
                  <a:srgbClr val="005088"/>
                </a:solidFill>
                <a:latin typeface="DM Sans"/>
              </a:rPr>
              <a:t>Inmediata</a:t>
            </a:r>
            <a:r>
              <a:rPr sz="1200" b="1" i="0" u="none" dirty="0">
                <a:solidFill>
                  <a:srgbClr val="005088"/>
                </a:solidFill>
                <a:latin typeface="DM Sans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Cierre de la Etapa 1 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inicio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formal de la Etapa 2 de Ingeniería de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Requisitos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(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entrevistas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y </a:t>
            </a:r>
            <a:r>
              <a:rPr sz="1200" b="0" i="0" u="none" dirty="0" err="1">
                <a:solidFill>
                  <a:srgbClr val="334155"/>
                </a:solidFill>
                <a:latin typeface="DM Sans"/>
              </a:rPr>
              <a:t>catálogo</a:t>
            </a:r>
            <a:r>
              <a:rPr sz="1200" b="0" i="0" u="none" dirty="0">
                <a:solidFill>
                  <a:srgbClr val="334155"/>
                </a:solidFill>
                <a:latin typeface="DM Sans"/>
              </a:rPr>
              <a:t> RF/RNF).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3047851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52500" y="3629025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52500" y="4210198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52500" y="4791372"/>
            <a:ext cx="1028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75" y="2738139"/>
            <a:ext cx="1905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475" y="3319313"/>
            <a:ext cx="1905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475" y="3900487"/>
            <a:ext cx="219075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475" y="4481661"/>
            <a:ext cx="171450" cy="2000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4350" y="419100"/>
            <a:ext cx="116776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Poppins"/>
              </a:rPr>
              <a:t>Preguntas Pendientes y Ruta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1214</Words>
  <Application>Microsoft Office PowerPoint</Application>
  <PresentationFormat>Widescreen</PresentationFormat>
  <Paragraphs>182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DM Sans</vt:lpstr>
      <vt:lpstr>DM Sans Medium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Cortés</cp:lastModifiedBy>
  <cp:revision>2</cp:revision>
  <dcterms:created xsi:type="dcterms:W3CDTF">2013-01-27T09:14:16Z</dcterms:created>
  <dcterms:modified xsi:type="dcterms:W3CDTF">2026-09-04T02:34:29Z</dcterms:modified>
  <cp:category/>
</cp:coreProperties>
</file>